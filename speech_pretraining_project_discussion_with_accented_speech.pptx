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4" r:id="rId7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7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3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EAD6-FA62-A5A4-5CA6-7628BCFB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6B8F0-DE96-164C-A5A0-317AB3AB6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F6A9B-C028-7D0A-6644-C92FB0CA3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6EA1-6BB5-F7D1-BA29-102B4F39A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026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60" dirty="0">
                <a:solidFill>
                  <a:schemeClr val="tx1">
                    <a:lumMod val="95000"/>
                    <a:lumOff val="5000"/>
                  </a:schemeClr>
                </a:solidFill>
                <a:latin typeface="Aldhabi" panose="01000000000000000000" pitchFamily="2" charset="-78"/>
                <a:ea typeface="Aptos" pitchFamily="34" charset="-122"/>
                <a:cs typeface="Aldhabi" panose="01000000000000000000" pitchFamily="2" charset="-78"/>
              </a:rPr>
              <a:t>Understanding Learning Dynamics in Speech Models  ·  WAV2VEC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789641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679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4860" y="1458797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63C"/>
                </a:solidFill>
              </a:rPr>
              <a:t>Emergence and evolution of speech representations during self-supervised pretraining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1364669" y="3867584"/>
            <a:ext cx="9462662" cy="77724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9" name="Text 7"/>
          <p:cNvSpPr/>
          <p:nvPr/>
        </p:nvSpPr>
        <p:spPr>
          <a:xfrm>
            <a:off x="960120" y="40733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Supervisor discussion  •  21 October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901093-6B88-CAD5-96D2-75083DDE4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89" y="5727595"/>
            <a:ext cx="1837671" cy="7006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42901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Direction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065213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679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6760" y="1810513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082040" y="1562245"/>
            <a:ext cx="10296144" cy="110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endParaRPr lang="en-US" sz="2000" dirty="0">
              <a:solidFill>
                <a:srgbClr val="17263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7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know that self-supervised speech models acquire some linguistics and phonetics capabilities,  want to study :  </a:t>
            </a:r>
          </a:p>
          <a:p>
            <a:r>
              <a:rPr lang="en-US" sz="23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</a:t>
            </a:r>
            <a:r>
              <a:rPr lang="en-US" sz="24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I.	the learning dynamic</a:t>
            </a:r>
          </a:p>
          <a:p>
            <a:r>
              <a:rPr lang="en-US" sz="24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II.	the impact of data size</a:t>
            </a:r>
          </a:p>
        </p:txBody>
      </p:sp>
      <p:sp>
        <p:nvSpPr>
          <p:cNvPr id="8" name="Shape 6"/>
          <p:cNvSpPr/>
          <p:nvPr/>
        </p:nvSpPr>
        <p:spPr>
          <a:xfrm>
            <a:off x="746760" y="3153302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1082040" y="2796686"/>
            <a:ext cx="10296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the </a:t>
            </a:r>
            <a:r>
              <a:rPr lang="en-US" sz="2000" dirty="0" err="1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VoxPopuli</a:t>
            </a: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Corpus (good recording env, speaker &amp; </a:t>
            </a:r>
            <a:r>
              <a:rPr lang="en-US" sz="2000" dirty="0" err="1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gendre</a:t>
            </a: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variability, gold transcription </a:t>
            </a:r>
            <a:r>
              <a:rPr lang="en-US" sz="2000" dirty="0" err="1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ect</a:t>
            </a: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..)</a:t>
            </a:r>
          </a:p>
        </p:txBody>
      </p:sp>
      <p:sp>
        <p:nvSpPr>
          <p:cNvPr id="10" name="Shape 8"/>
          <p:cNvSpPr/>
          <p:nvPr/>
        </p:nvSpPr>
        <p:spPr>
          <a:xfrm>
            <a:off x="746760" y="4049414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1082040" y="3692798"/>
            <a:ext cx="10296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We use multiple sizes of the data set: 1h, 50h, 100h, 250h and 500h. Each one is included in the one in its right </a:t>
            </a:r>
          </a:p>
        </p:txBody>
      </p:sp>
      <p:sp>
        <p:nvSpPr>
          <p:cNvPr id="12" name="Shape 10"/>
          <p:cNvSpPr/>
          <p:nvPr/>
        </p:nvSpPr>
        <p:spPr>
          <a:xfrm>
            <a:off x="746760" y="4945526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1082040" y="4588910"/>
            <a:ext cx="10296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2000" dirty="0"/>
              <a:t>We do multiple pre-trainings, for each data split (</a:t>
            </a:r>
            <a:r>
              <a:rPr lang="en-US" sz="2000" dirty="0">
                <a:solidFill>
                  <a:srgbClr val="00B050"/>
                </a:solidFill>
              </a:rPr>
              <a:t>1h, 50h, 250h and 500h are complete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FF0000"/>
                </a:solidFill>
              </a:rPr>
              <a:t>100h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still running</a:t>
            </a:r>
            <a:r>
              <a:rPr lang="en-US" sz="2000" dirty="0"/>
              <a:t>) (checkpoints are available here: </a:t>
            </a:r>
            <a:r>
              <a:rPr lang="en-US" sz="1300" dirty="0"/>
              <a:t>https://</a:t>
            </a:r>
            <a:r>
              <a:rPr lang="en-US" sz="1300" dirty="0" err="1"/>
              <a:t>cloud.llf-paris.fr</a:t>
            </a:r>
            <a:r>
              <a:rPr lang="en-US" sz="1300" dirty="0"/>
              <a:t>/</a:t>
            </a:r>
            <a:r>
              <a:rPr lang="en-US" sz="1300" dirty="0" err="1"/>
              <a:t>nextcloud</a:t>
            </a:r>
            <a:r>
              <a:rPr lang="en-US" sz="1300" dirty="0"/>
              <a:t>/</a:t>
            </a:r>
            <a:r>
              <a:rPr lang="en-US" sz="1300" dirty="0" err="1"/>
              <a:t>index.php</a:t>
            </a:r>
            <a:r>
              <a:rPr lang="en-US" sz="1300" dirty="0"/>
              <a:t>/apps/files/files/24488960?dir=/PhD/learning-curve/checkpoints</a:t>
            </a:r>
            <a:r>
              <a:rPr lang="en-US" sz="2000" dirty="0"/>
              <a:t>)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37E6240-01E2-68E4-B5FA-C855D3C7BFFE}"/>
              </a:ext>
            </a:extLst>
          </p:cNvPr>
          <p:cNvSpPr/>
          <p:nvPr/>
        </p:nvSpPr>
        <p:spPr>
          <a:xfrm>
            <a:off x="1082040" y="5458968"/>
            <a:ext cx="10296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2000" dirty="0">
                <a:solidFill>
                  <a:srgbClr val="0070C0"/>
                </a:solidFill>
                <a:latin typeface="Aptos" pitchFamily="34" charset="0"/>
              </a:rPr>
              <a:t>Study the impact of model size, architecture might be interesting but would need to launch bigger trainings (for future work)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/>
              <a:t>	</a:t>
            </a: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90717E7-35FF-6360-8593-02BDD2B8F6F5}"/>
              </a:ext>
            </a:extLst>
          </p:cNvPr>
          <p:cNvSpPr/>
          <p:nvPr/>
        </p:nvSpPr>
        <p:spPr>
          <a:xfrm>
            <a:off x="746760" y="5731910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F8C83D-55D4-F9B3-9EE4-CA4FF01DF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89" y="5727595"/>
            <a:ext cx="1837671" cy="7006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679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9932" y="1691640"/>
            <a:ext cx="5562228" cy="3337560"/>
          </a:xfrm>
          <a:prstGeom prst="roundRect">
            <a:avLst>
              <a:gd name="adj" fmla="val 3288"/>
            </a:avLst>
          </a:prstGeom>
          <a:solidFill>
            <a:srgbClr val="F5F7FA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7263C"/>
                </a:solidFill>
              </a:rPr>
              <a:t>Training-free · Use representations 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1737" y="2350008"/>
            <a:ext cx="5060423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SSL validation loss (validation set 5h of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voxpopuli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model getting better at the training task, what are the dynamics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ABX phonetic discrimination </a:t>
            </a:r>
          </a:p>
          <a:p>
            <a:pPr lvl="1"/>
            <a:r>
              <a:rPr lang="en-FR" sz="1200" dirty="0"/>
              <a:t>A : /ba/ </a:t>
            </a:r>
            <a:br>
              <a:rPr lang="en-FR" sz="1200" dirty="0"/>
            </a:br>
            <a:r>
              <a:rPr lang="en-FR" sz="1200" dirty="0"/>
              <a:t>B : /pa/ </a:t>
            </a:r>
            <a:br>
              <a:rPr lang="en-FR" sz="1200" dirty="0"/>
            </a:br>
            <a:r>
              <a:rPr lang="en-FR" sz="1200" dirty="0"/>
              <a:t>X : une nouvelle réalisation de /ba/</a:t>
            </a:r>
          </a:p>
          <a:p>
            <a:pPr lvl="1"/>
            <a:r>
              <a:rPr lang="en-FR" sz="1200" dirty="0"/>
              <a:t>	-&gt;  distance(X, A) vs distance(X, B)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CKA / RSA across training stages</a:t>
            </a:r>
          </a:p>
          <a:p>
            <a:pPr lvl="1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Representation drift and layer-wise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Measure what different encoder layers represent at each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Keyword spotting (use DTW distance)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ptos" pitchFamily="34" charset="-122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48" y="1691640"/>
            <a:ext cx="5562228" cy="3337560"/>
          </a:xfrm>
          <a:prstGeom prst="roundRect">
            <a:avLst>
              <a:gd name="adj" fmla="val 3288"/>
            </a:avLst>
          </a:prstGeom>
          <a:solidFill>
            <a:srgbClr val="F5F7FA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6327648" y="189280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63C"/>
                </a:solidFill>
              </a:rPr>
              <a:t>Frozen encoder · Needs additional training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27647" y="2350008"/>
            <a:ext cx="5072615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Perf on ASR task, </a:t>
            </a:r>
          </a:p>
          <a:p>
            <a:pPr lvl="1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multiple benchmarks (needs to be finetuned, we might use ls-960)</a:t>
            </a:r>
          </a:p>
          <a:p>
            <a:pPr lvl="1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Consider studying accented speech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Speaker / language identification (train probes)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Phoneme classification probe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Accent identification and its relationship with phoneme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SUPERB Benchmark, what information a pretrained speech representation contains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500" dirty="0">
              <a:solidFill>
                <a:srgbClr val="596679"/>
              </a:solidFill>
            </a:endParaRPr>
          </a:p>
          <a:p>
            <a:endParaRPr lang="en-US" sz="1500" dirty="0">
              <a:solidFill>
                <a:srgbClr val="596679"/>
              </a:solidFill>
            </a:endParaRPr>
          </a:p>
          <a:p>
            <a:endParaRPr lang="en-US" sz="1500" dirty="0">
              <a:solidFill>
                <a:srgbClr val="596679"/>
              </a:solidFill>
            </a:endParaRPr>
          </a:p>
          <a:p>
            <a:r>
              <a:rPr lang="en-US" sz="1500" dirty="0">
                <a:solidFill>
                  <a:srgbClr val="596679"/>
                </a:solidFill>
                <a:sym typeface="Wingdings" pitchFamily="2" charset="2"/>
              </a:rPr>
              <a:t></a:t>
            </a:r>
            <a:r>
              <a:rPr lang="en-US" sz="1500" dirty="0">
                <a:solidFill>
                  <a:srgbClr val="596679"/>
                </a:solidFill>
              </a:rPr>
              <a:t> Training Multiple probes might be time consuming, think about a strategy of picking the checkpoints or just launch it early ..</a:t>
            </a:r>
            <a:endParaRPr lang="en-US" sz="15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BA2410-5885-E29D-338F-B72D4D461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89" y="5727595"/>
            <a:ext cx="1837671" cy="700637"/>
          </a:xfrm>
          <a:prstGeom prst="rect">
            <a:avLst/>
          </a:prstGeom>
        </p:spPr>
      </p:pic>
      <p:sp>
        <p:nvSpPr>
          <p:cNvPr id="14" name="Text 12">
            <a:extLst>
              <a:ext uri="{FF2B5EF4-FFF2-40B4-BE49-F238E27FC236}">
                <a16:creationId xmlns:a16="http://schemas.microsoft.com/office/drawing/2014/main" id="{A002EA5F-5DFD-FDD9-6ED4-9DD490EE908F}"/>
              </a:ext>
            </a:extLst>
          </p:cNvPr>
          <p:cNvSpPr/>
          <p:nvPr/>
        </p:nvSpPr>
        <p:spPr>
          <a:xfrm>
            <a:off x="1025562" y="5544715"/>
            <a:ext cx="8086165" cy="70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lang="en-FR" sz="1600" i="1" dirty="0">
                <a:solidFill>
                  <a:schemeClr val="bg1">
                    <a:lumMod val="50000"/>
                  </a:schemeClr>
                </a:solidFill>
              </a:rPr>
              <a:t>veral, we can follow the methods used by Pythia (Biderman et al., ICML 2023)</a:t>
            </a:r>
            <a:endParaRPr lang="en-US" sz="15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679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6280" y="2131507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1088136" y="1746504"/>
            <a:ext cx="10387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</a:rPr>
              <a:t>At what stage do we learn each linguistic and phonetic feature ?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</a:rPr>
              <a:t>Like Phoneme understanding and recognition ..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6280" y="3082483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1088136" y="2697480"/>
            <a:ext cx="10387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different layers specialize at different training stages?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6280" y="4033459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1088136" y="3648456"/>
            <a:ext cx="10387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representations keep changing after task performance plateaus?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6280" y="4984435"/>
            <a:ext cx="109728" cy="10972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1088136" y="4599432"/>
            <a:ext cx="10387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evaluations are most sensitive to pretraining progress?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E6339E-845A-1E41-FD55-0DC3E649C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89" y="5727595"/>
            <a:ext cx="1837671" cy="700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action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679"/>
                </a:solidFill>
              </a:rPr>
              <a:t>07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FC14E98-0F4D-8462-B32B-C6C6CCB6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89" y="5727595"/>
            <a:ext cx="1837671" cy="7006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9BD0A4-6CA4-DEFD-12BB-7721389B186D}"/>
              </a:ext>
            </a:extLst>
          </p:cNvPr>
          <p:cNvSpPr txBox="1"/>
          <p:nvPr/>
        </p:nvSpPr>
        <p:spPr>
          <a:xfrm>
            <a:off x="1602889" y="2274838"/>
            <a:ext cx="8955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17263C"/>
                </a:solidFill>
              </a:rPr>
              <a:t>Build extraction pipeline (Already there, especially with the speech-representations-analysis library .. I should just just run </a:t>
            </a:r>
            <a:r>
              <a:rPr lang="en-US" b="1" dirty="0" err="1">
                <a:solidFill>
                  <a:srgbClr val="17263C"/>
                </a:solidFill>
              </a:rPr>
              <a:t>wether</a:t>
            </a:r>
            <a:r>
              <a:rPr lang="en-US" b="1" dirty="0">
                <a:solidFill>
                  <a:srgbClr val="17263C"/>
                </a:solidFill>
              </a:rPr>
              <a:t> some code or bash scripts to organize the experiments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17263C"/>
                </a:solidFill>
              </a:rPr>
              <a:t>Run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training-free metrics (ABX and cross-checkpoint CKA/RSA across the full trajectory)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Probes (Phonetic, speaker, accent and other high level speech tasks); Gather the data needed for each probe (already started with TIMIT ..)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endParaRPr lang="en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A619D-0B71-4A20-78E9-59EF62A5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F10235D-130B-4EB2-90A2-ED0BC31441AD}"/>
              </a:ext>
            </a:extLst>
          </p:cNvPr>
          <p:cNvSpPr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Contributions ?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F4F8B-8CE7-CD30-3786-971EF2ECD3ED}"/>
              </a:ext>
            </a:extLst>
          </p:cNvPr>
          <p:cNvSpPr/>
          <p:nvPr/>
        </p:nvSpPr>
        <p:spPr>
          <a:xfrm>
            <a:off x="594360" y="1353312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F7D1D7-D54D-4F96-257E-22CC33903C26}"/>
              </a:ext>
            </a:extLst>
          </p:cNvPr>
          <p:cNvSpPr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679"/>
                </a:solidFill>
              </a:rPr>
              <a:t>07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A45F9B-B75C-1FC9-702A-506357C80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89" y="5727595"/>
            <a:ext cx="1837671" cy="7006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A45265-A674-E681-778C-4819546F3031}"/>
              </a:ext>
            </a:extLst>
          </p:cNvPr>
          <p:cNvSpPr txBox="1"/>
          <p:nvPr/>
        </p:nvSpPr>
        <p:spPr>
          <a:xfrm>
            <a:off x="1667434" y="2299447"/>
            <a:ext cx="78530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FR" dirty="0"/>
              <a:t>The checkpoints that can help other researchers to study speech models leraning dynamics in from other perspectives ..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FR" dirty="0"/>
              <a:t>Discover how do these models achieve the linguistic capacities they have at the end of the training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FR" dirty="0"/>
              <a:t>Detect some patterns that might help us better train models,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FR" dirty="0"/>
              <a:t>less data ?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FR" dirty="0"/>
              <a:t>More robust to variations ? (speaker, accent, gender ..)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FR" dirty="0"/>
              <a:t>A layer-by-layer map of representation emergence</a:t>
            </a:r>
          </a:p>
          <a:p>
            <a:pPr marL="285750" indent="-285750">
              <a:buFont typeface="Wingdings" pitchFamily="2" charset="2"/>
              <a:buChar char="§"/>
            </a:pPr>
            <a:endParaRPr lang="en-FR" dirty="0"/>
          </a:p>
          <a:p>
            <a:pPr marL="285750" indent="-285750">
              <a:buFontTx/>
              <a:buChar char="-"/>
            </a:pPr>
            <a:endParaRPr lang="en-FR" dirty="0"/>
          </a:p>
          <a:p>
            <a:pPr marL="285750" indent="-285750">
              <a:buFontTx/>
              <a:buChar char="-"/>
            </a:pP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65263756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1030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F2636"/>
                </a:solidFill>
                <a:latin typeface="Aptos"/>
              </a:defRPr>
            </a:pPr>
            <a:r>
              <a:t>Accented ASR: current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5A637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000"/>
            <a:ext cx="10300000" cy="26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40" y="1990000"/>
            <a:ext cx="10296144" cy="335000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EE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2040" y="1990000"/>
            <a:ext cx="10296144" cy="85000"/>
          </a:xfrm>
          <a:prstGeom prst="rect">
            <a:avLst/>
          </a:prstGeom>
          <a:solidFill>
            <a:srgbClr val="405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2040" y="2150000"/>
            <a:ext cx="9876144" cy="3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2636"/>
                </a:solidFill>
                <a:latin typeface="Aptos"/>
              </a:defRPr>
            </a:pPr>
            <a:r>
              <a:t>What we already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040" y="2580000"/>
            <a:ext cx="9876144" cy="25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F2636"/>
                </a:solidFill>
                <a:latin typeface="Aptos"/>
              </a:defRPr>
            </a:pPr>
            <a:r>
              <a:t>• Staged LibriSpeech-to-L2-ARCTIC adaptation.</a:t>
            </a:r>
            <a:br/>
            <a:r>
              <a:t>• Content-parallel utterance pairs across speakers.</a:t>
            </a:r>
            <a:br/>
            <a:r>
              <a:t>• Leave-one-accent-out evaluation.</a:t>
            </a:r>
            <a:br/>
            <a:r>
              <a:t>• ASR and representation diagnostics.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1030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F2636"/>
                </a:solidFill>
                <a:latin typeface="Aptos"/>
              </a:defRPr>
            </a:pPr>
            <a:r>
              <a:t>Accented ASR: missing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5A637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000"/>
            <a:ext cx="10300000" cy="26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40" y="1990000"/>
            <a:ext cx="10296144" cy="335000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EE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2040" y="1990000"/>
            <a:ext cx="10296144" cy="85000"/>
          </a:xfrm>
          <a:prstGeom prst="rect">
            <a:avLst/>
          </a:prstGeom>
          <a:solidFill>
            <a:srgbClr val="405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2040" y="2150000"/>
            <a:ext cx="9876144" cy="3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2636"/>
                </a:solidFill>
                <a:latin typeface="Aptos"/>
              </a:defRPr>
            </a:pPr>
            <a:r>
              <a:t>Priority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040" y="2580000"/>
            <a:ext cx="9876144" cy="25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F2636"/>
                </a:solidFill>
                <a:latin typeface="Aptos"/>
              </a:defRPr>
            </a:pPr>
            <a:r>
              <a:t>• Complete seeds 42 and 77 for every baseline.</a:t>
            </a:r>
            <a:br/>
            <a:r>
              <a:t>• Train the shuffled-content CP-SupCon control.</a:t>
            </a:r>
            <a:br/>
            <a:r>
              <a:t>• Extract geometry from the exact staged checkpoints.</a:t>
            </a:r>
            <a:br/>
            <a:r>
              <a:t>• Run matched ASR evaluation and paired statistics.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1030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F2636"/>
                </a:solidFill>
                <a:latin typeface="Aptos"/>
              </a:defRPr>
            </a:pPr>
            <a:r>
              <a:t>How it links to pretraining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5A63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000"/>
            <a:ext cx="10300000" cy="26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40" y="1990000"/>
            <a:ext cx="10296144" cy="335000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EE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2040" y="1990000"/>
            <a:ext cx="10296144" cy="85000"/>
          </a:xfrm>
          <a:prstGeom prst="rect">
            <a:avLst/>
          </a:prstGeom>
          <a:solidFill>
            <a:srgbClr val="405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2040" y="2150000"/>
            <a:ext cx="9876144" cy="3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F2636"/>
                </a:solidFill>
                <a:latin typeface="Aptos"/>
              </a:defRPr>
            </a:pPr>
            <a:r>
              <a:t>Questions to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040" y="2580000"/>
            <a:ext cx="9876144" cy="25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F2636"/>
                </a:solidFill>
                <a:latin typeface="Aptos"/>
              </a:defRPr>
            </a:pPr>
            <a:r>
              <a:t>• Which information emerges during pretraining?</a:t>
            </a:r>
            <a:br/>
            <a:r>
              <a:t>• Which layers retain content, speaker, and accent information?</a:t>
            </a:r>
            <a:br/>
            <a:r>
              <a:t>• Do representation metrics predict downstream ASR?</a:t>
            </a:r>
            <a:br/>
            <a:r>
              <a:t>• Use accented ASR as a controlled downstream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593</Words>
  <Application>Microsoft Macintosh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Aldhabi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pretraining dynamics — project discussion</dc:title>
  <dc:subject>Speech SSL learning dynamics</dc:subject>
  <dc:creator>OpenAI</dc:creator>
  <cp:lastModifiedBy>Noureddine KHAOUS</cp:lastModifiedBy>
  <cp:revision>2</cp:revision>
  <dcterms:created xsi:type="dcterms:W3CDTF">2026-10-20T14:47:55Z</dcterms:created>
  <dcterms:modified xsi:type="dcterms:W3CDTF">2026-10-21T09:04:13Z</dcterms:modified>
</cp:coreProperties>
</file>