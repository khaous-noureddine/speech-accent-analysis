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0" r:id="rId4"/>
    <p:sldId id="261" r:id="rId5"/>
    <p:sldId id="262" r:id="rId6"/>
    <p:sldId id="264" r:id="rId7"/>
    <p:sldId id="265" r:id="rId13"/>
    <p:sldId id="266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7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>
        <p:scale>
          <a:sx n="119" d="100"/>
          <a:sy n="119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632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AEAD6-FA62-A5A4-5CA6-7628BCFB6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16B8F0-DE96-164C-A5A0-317AB3AB6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F6A9B-C028-7D0A-6644-C92FB0CA3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D6EA1-6BB5-F7D1-BA29-102B4F39A5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026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"/>
            <a:ext cx="6400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160" dirty="0">
                <a:solidFill>
                  <a:schemeClr val="tx1">
                    <a:lumMod val="95000"/>
                    <a:lumOff val="5000"/>
                  </a:schemeClr>
                </a:solidFill>
                <a:latin typeface="Aldhabi" panose="01000000000000000000" pitchFamily="2" charset="-78"/>
                <a:ea typeface="Aptos" pitchFamily="34" charset="-122"/>
                <a:cs typeface="Aldhabi" panose="01000000000000000000" pitchFamily="2" charset="-78"/>
              </a:rPr>
              <a:t>Understanding Learning Dynamics in Speech Models  ·  WAV2VEC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Aldhabi" panose="01000000000000000000" pitchFamily="2" charset="-78"/>
              <a:cs typeface="Aldhabi" panose="01000000000000000000" pitchFamily="2" charset="-7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789641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/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34860" y="1458797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17263C"/>
                </a:solidFill>
              </a:rPr>
              <a:t>Emergence and evolution of speech representations during self-supervised pretraining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364669" y="3867584"/>
            <a:ext cx="9462662" cy="777240"/>
          </a:xfrm>
          <a:prstGeom prst="rect">
            <a:avLst/>
          </a:prstGeom>
          <a:solidFill>
            <a:srgbClr val="EAF2F8"/>
          </a:solidFill>
          <a:ln w="12700">
            <a:solidFill>
              <a:srgbClr val="EAF2F8"/>
            </a:solidFill>
            <a:prstDash val="solid"/>
          </a:ln>
        </p:spPr>
        <p:txBody>
          <a:bodyPr/>
          <a:lstStyle/>
          <a:p>
            <a:endParaRPr lang="en-FR" dirty="0"/>
          </a:p>
        </p:txBody>
      </p:sp>
      <p:sp>
        <p:nvSpPr>
          <p:cNvPr id="9" name="Text 7"/>
          <p:cNvSpPr/>
          <p:nvPr/>
        </p:nvSpPr>
        <p:spPr>
          <a:xfrm>
            <a:off x="960120" y="407332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Supervisor discussion  •  21 October 2026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901093-6B88-CAD5-96D2-75083DDE4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342901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6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Direction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065213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/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6760" y="1810513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Text 5"/>
          <p:cNvSpPr/>
          <p:nvPr/>
        </p:nvSpPr>
        <p:spPr>
          <a:xfrm>
            <a:off x="1082040" y="1562245"/>
            <a:ext cx="10296144" cy="11064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endParaRPr lang="en-US" sz="2000" dirty="0">
              <a:solidFill>
                <a:srgbClr val="17263C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27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know that self-supervised speech models acquire some linguistics and phonetics capabilities,  want to study :  </a:t>
            </a:r>
          </a:p>
          <a:p>
            <a:r>
              <a:rPr lang="en-US" sz="23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	</a:t>
            </a:r>
            <a:r>
              <a:rPr lang="en-US" sz="24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I.	the learning dynamic</a:t>
            </a:r>
          </a:p>
          <a:p>
            <a:r>
              <a:rPr lang="en-US" sz="24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	II.	the impact of data size</a:t>
            </a:r>
          </a:p>
        </p:txBody>
      </p:sp>
      <p:sp>
        <p:nvSpPr>
          <p:cNvPr id="8" name="Shape 6"/>
          <p:cNvSpPr/>
          <p:nvPr/>
        </p:nvSpPr>
        <p:spPr>
          <a:xfrm>
            <a:off x="746760" y="3153302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Text 7"/>
          <p:cNvSpPr/>
          <p:nvPr/>
        </p:nvSpPr>
        <p:spPr>
          <a:xfrm>
            <a:off x="1082040" y="2796686"/>
            <a:ext cx="10296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use the </a:t>
            </a:r>
            <a:r>
              <a:rPr lang="en-US" sz="2000" dirty="0" err="1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VoxPopuli</a:t>
            </a: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Corpus (good recording env, speaker &amp; </a:t>
            </a:r>
            <a:r>
              <a:rPr lang="en-US" sz="2000" dirty="0" err="1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gendre</a:t>
            </a: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variability, gold transcription </a:t>
            </a:r>
            <a:r>
              <a:rPr lang="en-US" sz="2000" dirty="0" err="1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ect</a:t>
            </a: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..)</a:t>
            </a:r>
          </a:p>
        </p:txBody>
      </p:sp>
      <p:sp>
        <p:nvSpPr>
          <p:cNvPr id="10" name="Shape 8"/>
          <p:cNvSpPr/>
          <p:nvPr/>
        </p:nvSpPr>
        <p:spPr>
          <a:xfrm>
            <a:off x="746760" y="4049414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Text 9"/>
          <p:cNvSpPr/>
          <p:nvPr/>
        </p:nvSpPr>
        <p:spPr>
          <a:xfrm>
            <a:off x="1082040" y="3692798"/>
            <a:ext cx="10296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We use multiple sizes of the data set: 1h, 50h, 100h, 250h and 500h. Each one is included in the one in its right </a:t>
            </a:r>
          </a:p>
        </p:txBody>
      </p:sp>
      <p:sp>
        <p:nvSpPr>
          <p:cNvPr id="12" name="Shape 10"/>
          <p:cNvSpPr/>
          <p:nvPr/>
        </p:nvSpPr>
        <p:spPr>
          <a:xfrm>
            <a:off x="746760" y="4945526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Text 11"/>
          <p:cNvSpPr/>
          <p:nvPr/>
        </p:nvSpPr>
        <p:spPr>
          <a:xfrm>
            <a:off x="1082040" y="4588910"/>
            <a:ext cx="10296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2000" dirty="0"/>
              <a:t>We do multiple pre-trainings, for each data split (</a:t>
            </a:r>
            <a:r>
              <a:rPr lang="en-US" sz="2000" dirty="0">
                <a:solidFill>
                  <a:srgbClr val="00B050"/>
                </a:solidFill>
              </a:rPr>
              <a:t>1h, 50h, 250h and 500h are complete</a:t>
            </a:r>
            <a:r>
              <a:rPr lang="en-US" sz="2000" dirty="0"/>
              <a:t>; </a:t>
            </a:r>
            <a:r>
              <a:rPr lang="en-US" sz="2000" dirty="0">
                <a:solidFill>
                  <a:srgbClr val="FF0000"/>
                </a:solidFill>
              </a:rPr>
              <a:t>100h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0000"/>
                </a:solidFill>
              </a:rPr>
              <a:t>still running</a:t>
            </a:r>
            <a:r>
              <a:rPr lang="en-US" sz="2000" dirty="0"/>
              <a:t>) (checkpoints are available here: </a:t>
            </a:r>
            <a:r>
              <a:rPr lang="en-US" sz="1300" dirty="0"/>
              <a:t>https://</a:t>
            </a:r>
            <a:r>
              <a:rPr lang="en-US" sz="1300" dirty="0" err="1"/>
              <a:t>cloud.llf-paris.fr</a:t>
            </a:r>
            <a:r>
              <a:rPr lang="en-US" sz="1300" dirty="0"/>
              <a:t>/</a:t>
            </a:r>
            <a:r>
              <a:rPr lang="en-US" sz="1300" dirty="0" err="1"/>
              <a:t>nextcloud</a:t>
            </a:r>
            <a:r>
              <a:rPr lang="en-US" sz="1300" dirty="0"/>
              <a:t>/</a:t>
            </a:r>
            <a:r>
              <a:rPr lang="en-US" sz="1300" dirty="0" err="1"/>
              <a:t>index.php</a:t>
            </a:r>
            <a:r>
              <a:rPr lang="en-US" sz="1300" dirty="0"/>
              <a:t>/apps/files/files/24488960?dir=/PhD/learning-curve/checkpoints</a:t>
            </a:r>
            <a:r>
              <a:rPr lang="en-US" sz="2000" dirty="0"/>
              <a:t>)</a:t>
            </a: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37E6240-01E2-68E4-B5FA-C855D3C7BFFE}"/>
              </a:ext>
            </a:extLst>
          </p:cNvPr>
          <p:cNvSpPr/>
          <p:nvPr/>
        </p:nvSpPr>
        <p:spPr>
          <a:xfrm>
            <a:off x="1082040" y="5458968"/>
            <a:ext cx="10296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2000" dirty="0">
                <a:solidFill>
                  <a:srgbClr val="0070C0"/>
                </a:solidFill>
                <a:latin typeface="Aptos" pitchFamily="34" charset="0"/>
              </a:rPr>
              <a:t>Study the impact of model size, architecture might be interesting but would need to launch bigger trainings (for future work)</a:t>
            </a:r>
            <a:endParaRPr lang="en-US" sz="20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000" dirty="0"/>
              <a:t>	</a:t>
            </a:r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F90717E7-35FF-6360-8593-02BDD2B8F6F5}"/>
              </a:ext>
            </a:extLst>
          </p:cNvPr>
          <p:cNvSpPr/>
          <p:nvPr/>
        </p:nvSpPr>
        <p:spPr>
          <a:xfrm>
            <a:off x="746760" y="5731910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5F8C83D-55D4-F9B3-9EE4-CA4FF01DF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6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353312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/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9932" y="1691640"/>
            <a:ext cx="5562228" cy="3337560"/>
          </a:xfrm>
          <a:prstGeom prst="roundRect">
            <a:avLst>
              <a:gd name="adj" fmla="val 3288"/>
            </a:avLst>
          </a:prstGeom>
          <a:solidFill>
            <a:srgbClr val="F5F7FA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Text 5"/>
          <p:cNvSpPr/>
          <p:nvPr/>
        </p:nvSpPr>
        <p:spPr>
          <a:xfrm>
            <a:off x="914400" y="189280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7263C"/>
                </a:solidFill>
              </a:rPr>
              <a:t>Training-free · Use representations 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91737" y="2350008"/>
            <a:ext cx="5060423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SSL validation loss (validation set 5h of </a:t>
            </a:r>
            <a:r>
              <a:rPr 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voxpopuli</a:t>
            </a: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b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 the model getting better at the training task, what are the dynamics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ABX phonetic discrimination </a:t>
            </a:r>
          </a:p>
          <a:p>
            <a:pPr lvl="1"/>
            <a:r>
              <a:rPr lang="en-FR" sz="1200" dirty="0"/>
              <a:t>A : /ba/ </a:t>
            </a:r>
            <a:br>
              <a:rPr lang="en-FR" sz="1200" dirty="0"/>
            </a:br>
            <a:r>
              <a:rPr lang="en-FR" sz="1200" dirty="0"/>
              <a:t>B : /pa/ </a:t>
            </a:r>
            <a:br>
              <a:rPr lang="en-FR" sz="1200" dirty="0"/>
            </a:br>
            <a:r>
              <a:rPr lang="en-FR" sz="1200" dirty="0"/>
              <a:t>X : une nouvelle réalisation de /ba/</a:t>
            </a:r>
          </a:p>
          <a:p>
            <a:pPr lvl="1"/>
            <a:r>
              <a:rPr lang="en-FR" sz="1200" dirty="0"/>
              <a:t>	-&gt;  distance(X, A) vs distance(X, B)</a:t>
            </a: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CKA / RSA across training stages</a:t>
            </a:r>
          </a:p>
          <a:p>
            <a:pPr lvl="1"/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Representation drift and layer-wise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Measure what different encoder layers represent at each stage.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Keyword spotting (use DTW distance)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ea typeface="Aptos" pitchFamily="34" charset="-122"/>
              <a:cs typeface="Calibri" panose="020F0502020204030204" pitchFamily="34" charset="0"/>
            </a:endParaRPr>
          </a:p>
          <a:p>
            <a:pPr marL="285750" indent="-285750">
              <a:buFontTx/>
              <a:buChar char="-"/>
            </a:pP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99048" y="1691640"/>
            <a:ext cx="5562228" cy="3337560"/>
          </a:xfrm>
          <a:prstGeom prst="roundRect">
            <a:avLst>
              <a:gd name="adj" fmla="val 3288"/>
            </a:avLst>
          </a:prstGeom>
          <a:solidFill>
            <a:srgbClr val="F5F7FA"/>
          </a:solidFill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0" name="Text 8"/>
          <p:cNvSpPr/>
          <p:nvPr/>
        </p:nvSpPr>
        <p:spPr>
          <a:xfrm>
            <a:off x="6327648" y="1892808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63C"/>
                </a:solidFill>
              </a:rPr>
              <a:t>Frozen encoder · Needs additional training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327647" y="2350008"/>
            <a:ext cx="5072615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Perf on ASR task, </a:t>
            </a:r>
          </a:p>
          <a:p>
            <a:pPr lvl="1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 multiple benchmarks (needs to be finetuned, we might use ls-960)</a:t>
            </a:r>
          </a:p>
          <a:p>
            <a:pPr lvl="1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Consider studying accented speech</a:t>
            </a:r>
            <a:b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en-US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Speaker / language identification (train probes)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Phoneme classification probe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Accent identification and its relationship with phoneme recognition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SUPERB Benchmark, what information a pretrained speech representation contains</a:t>
            </a:r>
            <a:endParaRPr lang="en-US" sz="15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sz="1500" dirty="0">
              <a:solidFill>
                <a:srgbClr val="596679"/>
              </a:solidFill>
            </a:endParaRPr>
          </a:p>
          <a:p>
            <a:endParaRPr lang="en-US" sz="1500" dirty="0">
              <a:solidFill>
                <a:srgbClr val="596679"/>
              </a:solidFill>
            </a:endParaRPr>
          </a:p>
          <a:p>
            <a:endParaRPr lang="en-US" sz="1500" dirty="0">
              <a:solidFill>
                <a:srgbClr val="596679"/>
              </a:solidFill>
            </a:endParaRPr>
          </a:p>
          <a:p>
            <a:r>
              <a:rPr lang="en-US" sz="1500" dirty="0">
                <a:solidFill>
                  <a:srgbClr val="596679"/>
                </a:solidFill>
                <a:sym typeface="Wingdings" pitchFamily="2" charset="2"/>
              </a:rPr>
              <a:t></a:t>
            </a:r>
            <a:r>
              <a:rPr lang="en-US" sz="1500" dirty="0">
                <a:solidFill>
                  <a:srgbClr val="596679"/>
                </a:solidFill>
              </a:rPr>
              <a:t> Training Multiple probes might be time consuming, think about a strategy of picking the checkpoints or just launch it early ..</a:t>
            </a:r>
            <a:endParaRPr lang="en-US" sz="15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6BA2410-5885-E29D-338F-B72D4D461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  <p:sp>
        <p:nvSpPr>
          <p:cNvPr id="14" name="Text 12">
            <a:extLst>
              <a:ext uri="{FF2B5EF4-FFF2-40B4-BE49-F238E27FC236}">
                <a16:creationId xmlns:a16="http://schemas.microsoft.com/office/drawing/2014/main" id="{A002EA5F-5DFD-FDD9-6ED4-9DD490EE908F}"/>
              </a:ext>
            </a:extLst>
          </p:cNvPr>
          <p:cNvSpPr/>
          <p:nvPr/>
        </p:nvSpPr>
        <p:spPr>
          <a:xfrm>
            <a:off x="1025562" y="5544715"/>
            <a:ext cx="8086165" cy="7006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600" i="1" dirty="0">
                <a:solidFill>
                  <a:schemeClr val="bg1">
                    <a:lumMod val="50000"/>
                  </a:schemeClr>
                </a:solidFill>
              </a:rPr>
              <a:t>O</a:t>
            </a:r>
            <a:r>
              <a:rPr lang="en-FR" sz="1600" i="1" dirty="0">
                <a:solidFill>
                  <a:schemeClr val="bg1">
                    <a:lumMod val="50000"/>
                  </a:schemeClr>
                </a:solidFill>
              </a:rPr>
              <a:t>veral, we can follow the methods used by Pythia (Biderman et al., ICML 2023)</a:t>
            </a:r>
            <a:endParaRPr lang="en-US" sz="1500" i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6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353312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/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6280" y="2131507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7" name="Text 5"/>
          <p:cNvSpPr/>
          <p:nvPr/>
        </p:nvSpPr>
        <p:spPr>
          <a:xfrm>
            <a:off x="1088136" y="1746504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7263C"/>
                </a:solidFill>
                <a:latin typeface="Aptos" pitchFamily="34" charset="0"/>
              </a:rPr>
              <a:t>At what stage do we learn each linguistic and phonetic feature ?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7263C"/>
                </a:solidFill>
                <a:latin typeface="Aptos" pitchFamily="34" charset="0"/>
              </a:rPr>
              <a:t>Like Phoneme understanding and recognition ..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16280" y="3082483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9" name="Text 7"/>
          <p:cNvSpPr/>
          <p:nvPr/>
        </p:nvSpPr>
        <p:spPr>
          <a:xfrm>
            <a:off x="1088136" y="2697480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different layers specialize at different training stages?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16280" y="4033459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1" name="Text 9"/>
          <p:cNvSpPr/>
          <p:nvPr/>
        </p:nvSpPr>
        <p:spPr>
          <a:xfrm>
            <a:off x="1088136" y="3648456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representations keep changing after task performance plateaus?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16280" y="4984435"/>
            <a:ext cx="109728" cy="109728"/>
          </a:xfrm>
          <a:prstGeom prst="ellipse">
            <a:avLst/>
          </a:prstGeom>
          <a:solidFill>
            <a:srgbClr val="2874A6"/>
          </a:solidFill>
          <a:ln w="12700">
            <a:solidFill>
              <a:srgbClr val="2874A6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13" name="Text 11"/>
          <p:cNvSpPr/>
          <p:nvPr/>
        </p:nvSpPr>
        <p:spPr>
          <a:xfrm>
            <a:off x="1088136" y="4599432"/>
            <a:ext cx="10387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726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evaluations are most sensitive to pretraining progress?</a:t>
            </a:r>
            <a:endParaRPr lang="en-US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E6339E-845A-1E41-FD55-0DC3E649C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6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action 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353312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/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07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FC14E98-0F4D-8462-B32B-C6C6CCB65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C9BD0A4-6CA4-DEFD-12BB-7721389B186D}"/>
              </a:ext>
            </a:extLst>
          </p:cNvPr>
          <p:cNvSpPr txBox="1"/>
          <p:nvPr/>
        </p:nvSpPr>
        <p:spPr>
          <a:xfrm>
            <a:off x="1602889" y="2274838"/>
            <a:ext cx="895574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rgbClr val="17263C"/>
                </a:solidFill>
              </a:rPr>
              <a:t>Build extraction pipeline (Already there, especially with the speech-representations-analysis library .. I should just just run </a:t>
            </a:r>
            <a:r>
              <a:rPr lang="en-US" b="1" dirty="0" err="1">
                <a:solidFill>
                  <a:srgbClr val="17263C"/>
                </a:solidFill>
              </a:rPr>
              <a:t>wether</a:t>
            </a:r>
            <a:r>
              <a:rPr lang="en-US" b="1" dirty="0">
                <a:solidFill>
                  <a:srgbClr val="17263C"/>
                </a:solidFill>
              </a:rPr>
              <a:t> some code or bash scripts to organize the experiments 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rgbClr val="17263C"/>
                </a:solidFill>
              </a:rPr>
              <a:t>Run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training-free metrics (ABX and cross-checkpoint CKA/RSA across the full trajectory)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Probes (Phonetic, speaker, accent and other high level speech tasks); Gather the data needed for each probe (already started with TIMIT ..)</a:t>
            </a:r>
          </a:p>
          <a:p>
            <a:pPr marL="342900" indent="-342900">
              <a:buFont typeface="+mj-lt"/>
              <a:buAutoNum type="arabicPeriod"/>
            </a:pPr>
            <a:endParaRPr lang="en-US" b="1" dirty="0"/>
          </a:p>
          <a:p>
            <a:pPr marL="342900" indent="-342900">
              <a:buFont typeface="+mj-lt"/>
              <a:buAutoNum type="arabicPeriod"/>
            </a:pPr>
            <a:endParaRPr lang="en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6A619D-0B71-4A20-78E9-59EF62A5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F10235D-130B-4EB2-90A2-ED0BC31441AD}"/>
              </a:ext>
            </a:extLst>
          </p:cNvPr>
          <p:cNvSpPr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63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Potential Contributions ?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4F4F8B-8CE7-CD30-3786-971EF2ECD3ED}"/>
              </a:ext>
            </a:extLst>
          </p:cNvPr>
          <p:cNvSpPr/>
          <p:nvPr/>
        </p:nvSpPr>
        <p:spPr>
          <a:xfrm>
            <a:off x="594360" y="1353312"/>
            <a:ext cx="10972800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F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FF7D1D7-D54D-4F96-257E-22CC33903C26}"/>
              </a:ext>
            </a:extLst>
          </p:cNvPr>
          <p:cNvSpPr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6679"/>
                </a:solidFill>
              </a:rPr>
              <a:t>07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2A45F9B-B75C-1FC9-702A-506357C80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289" y="5727595"/>
            <a:ext cx="1837671" cy="7006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A45265-A674-E681-778C-4819546F3031}"/>
              </a:ext>
            </a:extLst>
          </p:cNvPr>
          <p:cNvSpPr txBox="1"/>
          <p:nvPr/>
        </p:nvSpPr>
        <p:spPr>
          <a:xfrm>
            <a:off x="1667434" y="2299447"/>
            <a:ext cx="785308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FR" dirty="0"/>
              <a:t>The checkpoints that can help other researchers to study speech models leraning dynamics in from other perspectives ..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FR" dirty="0"/>
              <a:t>Discover how do these models achieve the linguistic capacities they have at the end of the training 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FR" dirty="0"/>
              <a:t>Detect some patterns that might help us better train models, </a:t>
            </a:r>
          </a:p>
          <a:p>
            <a:pPr marL="742950" lvl="1" indent="-285750">
              <a:buFont typeface="Wingdings" pitchFamily="2" charset="2"/>
              <a:buChar char="§"/>
            </a:pPr>
            <a:r>
              <a:rPr lang="en-FR" dirty="0"/>
              <a:t>less data ? </a:t>
            </a:r>
          </a:p>
          <a:p>
            <a:pPr marL="742950" lvl="1" indent="-285750">
              <a:buFont typeface="Wingdings" pitchFamily="2" charset="2"/>
              <a:buChar char="§"/>
            </a:pPr>
            <a:r>
              <a:rPr lang="en-FR" dirty="0"/>
              <a:t>More robust to variations ? (speaker, accent, gender ..)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FR" dirty="0"/>
              <a:t>A layer-by-layer map of representation emergence</a:t>
            </a:r>
          </a:p>
          <a:p>
            <a:pPr marL="285750" indent="-285750">
              <a:buFont typeface="Wingdings" pitchFamily="2" charset="2"/>
              <a:buChar char="§"/>
            </a:pPr>
            <a:endParaRPr lang="en-FR" dirty="0"/>
          </a:p>
          <a:p>
            <a:pPr marL="285750" indent="-285750">
              <a:buFontTx/>
              <a:buChar char="-"/>
            </a:pPr>
            <a:endParaRPr lang="en-FR" dirty="0"/>
          </a:p>
          <a:p>
            <a:pPr marL="285750" indent="-285750">
              <a:buFontTx/>
              <a:buChar char="-"/>
            </a:pPr>
            <a:endParaRPr lang="en-FR" dirty="0"/>
          </a:p>
        </p:txBody>
      </p:sp>
    </p:spTree>
    <p:extLst>
      <p:ext uri="{BB962C8B-B14F-4D97-AF65-F5344CB8AC3E}">
        <p14:creationId xmlns:p14="http://schemas.microsoft.com/office/powerpoint/2010/main" val="265263756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30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F2636"/>
                </a:solidFill>
                <a:latin typeface="Aptos"/>
              </a:defRPr>
            </a:pPr>
            <a:r>
              <a:t>Accented ASR as a downstream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5A637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65000"/>
            <a:ext cx="10300000" cy="26000"/>
          </a:xfrm>
          <a:prstGeom prst="rect">
            <a:avLst/>
          </a:prstGeom>
          <a:solidFill>
            <a:srgbClr val="EE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40" y="1580000"/>
            <a:ext cx="102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0">
                <a:solidFill>
                  <a:srgbClr val="5A6376"/>
                </a:solidFill>
                <a:latin typeface="Aptos"/>
              </a:defRPr>
            </a:pPr>
            <a:r>
              <a:t>What the current project already offers, and what must be controlled before it can support a strong claim.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2040" y="2270000"/>
            <a:ext cx="4900000" cy="310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2040" y="2270000"/>
            <a:ext cx="4900000" cy="85000"/>
          </a:xfrm>
          <a:prstGeom prst="rect">
            <a:avLst/>
          </a:prstGeom>
          <a:solidFill>
            <a:srgbClr val="405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2040" y="2430000"/>
            <a:ext cx="448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Useful ingredients already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2040" y="2860000"/>
            <a:ext cx="4480000" cy="2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Staged adaptation from a LibriSpeech CTC checkpoint to held-out-accent L2-ARCTIC.</a:t>
            </a:r>
            <a:br/>
            <a:r>
              <a:t>• Content-parallel utterance pairs across speakers, with external ASR benchmarks.</a:t>
            </a:r>
            <a:br/>
            <a:r>
              <a:t>• Layer-wise content geometry and cross-accent L1 diagnostics.</a:t>
            </a:r>
            <a:br/>
            <a:r>
              <a:t>• A concrete downstream setting for asking whether representations predict task performance.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0000" y="2270000"/>
            <a:ext cx="4900000" cy="310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0000" y="2270000"/>
            <a:ext cx="4900000" cy="85000"/>
          </a:xfrm>
          <a:prstGeom prst="rect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000" y="2430000"/>
            <a:ext cx="448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Gaps to close before using the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0000" y="2860000"/>
            <a:ext cx="4480000" cy="2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Identical seed coverage for every baseline and every held-out accent.</a:t>
            </a:r>
            <a:br/>
            <a:r>
              <a:t>• Geometry extracted from the exact checkpoints used for the ASR comparison.</a:t>
            </a:r>
            <a:br/>
            <a:r>
              <a:t>• A shuffled-content positive control to separate content supervision from generic regularization.</a:t>
            </a:r>
            <a:br/>
            <a:r>
              <a:t>• Paired uncertainty: per-seed, per-fold, and utterance-level comparisons.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30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F2636"/>
                </a:solidFill>
                <a:latin typeface="Aptos"/>
              </a:defRPr>
            </a:pPr>
            <a:r>
              <a:t>Minimal controlled accented-ASR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5A637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65000"/>
            <a:ext cx="10300000" cy="26000"/>
          </a:xfrm>
          <a:prstGeom prst="rect">
            <a:avLst/>
          </a:prstGeom>
          <a:solidFill>
            <a:srgbClr val="EE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40" y="1580000"/>
            <a:ext cx="10200000" cy="4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0">
                <a:solidFill>
                  <a:srgbClr val="5A6376"/>
                </a:solidFill>
                <a:latin typeface="Aptos"/>
              </a:defRPr>
            </a:pPr>
            <a:r>
              <a:t>Hold all optimisation choices fixed; change only how contrastive positives are defined.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2620000"/>
            <a:ext cx="2100000" cy="112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A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0000" y="2750000"/>
            <a:ext cx="186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1F2636"/>
                </a:solidFill>
                <a:latin typeface="Aptos"/>
              </a:defRPr>
            </a:pPr>
            <a:r>
              <a:t>Shared starting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000" y="3090000"/>
            <a:ext cx="1860000" cy="5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5A6376"/>
                </a:solidFill>
                <a:latin typeface="Aptos"/>
              </a:defRPr>
            </a:pPr>
            <a:r>
              <a:t>Same LibriSpeech CTC checkpoint</a:t>
            </a:r>
            <a:br/>
            <a:r>
              <a:t>Same held-out-accent fold</a:t>
            </a:r>
            <a:br/>
            <a:r>
              <a:t>Same seeds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10000" y="3085000"/>
            <a:ext cx="380000" cy="180000"/>
          </a:xfrm>
          <a:prstGeom prst="rightArrow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40000" y="2620000"/>
            <a:ext cx="2100000" cy="112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A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0000" y="2750000"/>
            <a:ext cx="186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1F2636"/>
                </a:solidFill>
                <a:latin typeface="Aptos"/>
              </a:defRPr>
            </a:pPr>
            <a:r>
              <a:t>Staged MD-FT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0000" y="3090000"/>
            <a:ext cx="1860000" cy="5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5A6376"/>
                </a:solidFill>
                <a:latin typeface="Aptos"/>
              </a:defRPr>
            </a:pPr>
            <a:r>
              <a:t>L2-ARCTIC CTC adaptation</a:t>
            </a:r>
            <a:br/>
            <a:r>
              <a:t>No contrastive term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30000" y="3085000"/>
            <a:ext cx="380000" cy="180000"/>
          </a:xfrm>
          <a:prstGeom prst="rightArrow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60000" y="2620000"/>
            <a:ext cx="2100000" cy="1120000"/>
          </a:xfrm>
          <a:prstGeom prst="roundRect">
            <a:avLst/>
          </a:prstGeom>
          <a:solidFill>
            <a:srgbClr val="EEF1F8"/>
          </a:solidFill>
          <a:ln w="13970">
            <a:solidFill>
              <a:srgbClr val="4052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000" y="2750000"/>
            <a:ext cx="186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405294"/>
                </a:solidFill>
                <a:latin typeface="Aptos"/>
              </a:defRPr>
            </a:pPr>
            <a:r>
              <a:t>True CP-SupCon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000" y="3090000"/>
            <a:ext cx="1860000" cy="5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5A6376"/>
                </a:solidFill>
                <a:latin typeface="Aptos"/>
              </a:defRPr>
            </a:pPr>
            <a:r>
              <a:t>Positive pairs: same prompt</a:t>
            </a:r>
            <a:br/>
            <a:r>
              <a:t>Different speakers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150000" y="3085000"/>
            <a:ext cx="380000" cy="180000"/>
          </a:xfrm>
          <a:prstGeom prst="rightArrow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80000" y="2620000"/>
            <a:ext cx="2100000" cy="112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A6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0000" y="2750000"/>
            <a:ext cx="1860000" cy="2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1F2636"/>
                </a:solidFill>
                <a:latin typeface="Aptos"/>
              </a:defRPr>
            </a:pPr>
            <a:r>
              <a:t>Shuffled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0000" y="3090000"/>
            <a:ext cx="1860000" cy="5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5A6376"/>
                </a:solidFill>
                <a:latin typeface="Aptos"/>
              </a:defRPr>
            </a:pPr>
            <a:r>
              <a:t>Positive pairs: random prompts</a:t>
            </a:r>
            <a:br/>
            <a:r>
              <a:t>Same loss and schedule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0000" y="4410000"/>
            <a:ext cx="98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00" b="1">
                <a:solidFill>
                  <a:srgbClr val="405294"/>
                </a:solidFill>
                <a:latin typeface="Aptos"/>
              </a:defRPr>
            </a:pPr>
            <a:r>
              <a:t>Compare each branch with the same 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0000" y="4930000"/>
            <a:ext cx="3600000" cy="102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0000" y="4930000"/>
            <a:ext cx="3600000" cy="85000"/>
          </a:xfrm>
          <a:prstGeom prst="rect">
            <a:avLst/>
          </a:prstGeom>
          <a:solidFill>
            <a:srgbClr val="405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10000" y="5090000"/>
            <a:ext cx="318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ASR 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10000" y="5520000"/>
            <a:ext cx="3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L2-ARCTIC, AESRC, SAA</a:t>
            </a:r>
            <a:br/>
            <a:r>
              <a:t>• greedy and fixed-LM decoding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0000" y="4930000"/>
            <a:ext cx="3600000" cy="102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0000" y="4930000"/>
            <a:ext cx="3600000" cy="85000"/>
          </a:xfrm>
          <a:prstGeom prst="rect">
            <a:avLst/>
          </a:prstGeom>
          <a:solidFill>
            <a:srgbClr val="405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70000" y="5090000"/>
            <a:ext cx="318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Representation 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0000" y="5520000"/>
            <a:ext cx="3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same-prompt retrieval and alignment</a:t>
            </a:r>
            <a:br/>
            <a:r>
              <a:t>• same checkpoints, layer by layer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10300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000" b="1">
                <a:solidFill>
                  <a:srgbClr val="1F2636"/>
                </a:solidFill>
                <a:latin typeface="Aptos"/>
              </a:defRPr>
            </a:pPr>
            <a:r>
              <a:t>Connection to the pretraining-dynamics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64282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5A637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65000"/>
            <a:ext cx="10300000" cy="26000"/>
          </a:xfrm>
          <a:prstGeom prst="rect">
            <a:avLst/>
          </a:prstGeom>
          <a:solidFill>
            <a:srgbClr val="EE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40" y="1570000"/>
            <a:ext cx="1020000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700" b="0">
                <a:solidFill>
                  <a:srgbClr val="5A6376"/>
                </a:solidFill>
                <a:latin typeface="Aptos"/>
              </a:defRPr>
            </a:pPr>
            <a:r>
              <a:t>The accented-ASR study can be a focused downstream validation, rather than a separate paper stitched onto the trajectory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2040" y="2310000"/>
            <a:ext cx="3240000" cy="300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2040" y="2310000"/>
            <a:ext cx="3240000" cy="85000"/>
          </a:xfrm>
          <a:prstGeom prst="rect">
            <a:avLst/>
          </a:prstGeom>
          <a:solidFill>
            <a:srgbClr val="4052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2040" y="2470000"/>
            <a:ext cx="282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Question from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2040" y="2900000"/>
            <a:ext cx="2820000" cy="2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When does content, speaker, phonetic, or accent information emerge?</a:t>
            </a:r>
            <a:br/>
            <a:r>
              <a:t>• Which layers change as SSL validation performance improves?</a:t>
            </a:r>
            <a:br/>
            <a:r>
              <a:t>• Do representation diagnostics forecast useful downstream behavior?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0000" y="2310000"/>
            <a:ext cx="3240000" cy="300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0000" y="2310000"/>
            <a:ext cx="3240000" cy="85000"/>
          </a:xfrm>
          <a:prstGeom prst="rect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0000" y="2470000"/>
            <a:ext cx="282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Accented-ASR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0000" y="2900000"/>
            <a:ext cx="2820000" cy="2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A controlled task where content-aligned geometry is deliberately manipulated.</a:t>
            </a:r>
            <a:br/>
            <a:r>
              <a:t>• A stress test for whether retrieval, probes, and similarity metrics track WER.</a:t>
            </a:r>
            <a:br/>
            <a:r>
              <a:t>• A setting with speaker and accent variation rather than only read-speech accuracy.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0000" y="2310000"/>
            <a:ext cx="3240000" cy="3000000"/>
          </a:xfrm>
          <a:prstGeom prst="roundRect">
            <a:avLst/>
          </a:prstGeom>
          <a:solidFill>
            <a:srgbClr val="F7F8FC"/>
          </a:solidFill>
          <a:ln w="10160">
            <a:solidFill>
              <a:srgbClr val="EE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0000" y="2310000"/>
            <a:ext cx="3240000" cy="85000"/>
          </a:xfrm>
          <a:prstGeom prst="rect">
            <a:avLst/>
          </a:prstGeom>
          <a:solidFill>
            <a:srgbClr val="5A63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0000" y="2470000"/>
            <a:ext cx="282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2636"/>
                </a:solidFill>
                <a:latin typeface="Aptos"/>
              </a:defRPr>
            </a:pPr>
            <a:r>
              <a:t>Practical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0000" y="2900000"/>
            <a:ext cx="2820000" cy="2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1F2636"/>
                </a:solidFill>
                <a:latin typeface="Aptos"/>
              </a:defRPr>
            </a:pPr>
            <a:r>
              <a:t>• First finish the matched staged comparison and shuffled control.</a:t>
            </a:r>
            <a:br/>
            <a:r>
              <a:t>• Then use selected SSL checkpoints to test whether early diagnostics predict adaptation outcomes.</a:t>
            </a:r>
            <a:br/>
            <a:r>
              <a:t>• Keep claims descriptive unless checkpoint-level and seed-level evidence agrees.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0000" y="5800000"/>
            <a:ext cx="954000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405294"/>
                </a:solidFill>
                <a:latin typeface="Aptos"/>
              </a:defRPr>
            </a:pPr>
            <a:r>
              <a:t>Target contribution: a layer-by-layer map of what changes during pretraining, plus evidence on which changes matter downstream.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593</Words>
  <Application>Microsoft Macintosh PowerPoint</Application>
  <PresentationFormat>Widescreen</PresentationFormat>
  <Paragraphs>67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Aldhabi</vt:lpstr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 pretraining dynamics — project discussion</dc:title>
  <dc:subject>Speech SSL learning dynamics</dc:subject>
  <dc:creator>OpenAI</dc:creator>
  <cp:lastModifiedBy>Noureddine KHAOUS</cp:lastModifiedBy>
  <cp:revision>2</cp:revision>
  <dcterms:created xsi:type="dcterms:W3CDTF">2026-10-20T14:47:55Z</dcterms:created>
  <dcterms:modified xsi:type="dcterms:W3CDTF">2026-10-21T09:04:13Z</dcterms:modified>
</cp:coreProperties>
</file>